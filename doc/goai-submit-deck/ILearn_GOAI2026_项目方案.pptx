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custom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002FA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abel"/>
          <p:cNvSpPr txBox="1"/>
          <p:nvPr/>
        </p:nvSpPr>
        <p:spPr>
          <a:xfrm>
            <a:off x="609600" y="609600"/>
            <a:ext cx="1092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>
                <a:solidFill>
                  <a:srgbClr val="A8B6E0"/>
                </a:solidFill>
                <a:latin typeface="MiSans"/>
                <a:ea typeface="MiSans"/>
              </a:rPr>
              <a:t>2026 世界人工智能开源大赛　·　GOAI 2026</a:t>
            </a:r>
            <a:endParaRPr lang="en-US" sz="1600" noProof="1"/>
          </a:p>
        </p:txBody>
      </p:sp>
      <p:sp>
        <p:nvSpPr>
          <p:cNvPr id="3" name="brand-bar"/>
          <p:cNvSpPr/>
          <p:nvPr/>
        </p:nvSpPr>
        <p:spPr>
          <a:xfrm>
            <a:off x="609600" y="2032000"/>
            <a:ext cx="914400" cy="6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</p:sp>
      <p:sp>
        <p:nvSpPr>
          <p:cNvPr id="4" name="brand"/>
          <p:cNvSpPr txBox="1"/>
          <p:nvPr/>
        </p:nvSpPr>
        <p:spPr>
          <a:xfrm>
            <a:off x="609600" y="2286000"/>
            <a:ext cx="10922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5200" noProof="1" b="1">
                <a:solidFill>
                  <a:srgbClr val="FFFFFF"/>
                </a:solidFill>
                <a:latin typeface="MiSans"/>
                <a:ea typeface="MiSans"/>
              </a:rPr>
              <a:t>ILearn</a:t>
            </a:r>
            <a:endParaRPr lang="en-US" sz="5200" noProof="1"/>
          </a:p>
        </p:txBody>
      </p:sp>
      <p:sp>
        <p:nvSpPr>
          <p:cNvPr id="5" name="tagline"/>
          <p:cNvSpPr txBox="1"/>
          <p:nvPr/>
        </p:nvSpPr>
        <p:spPr>
          <a:xfrm>
            <a:off x="609600" y="3302000"/>
            <a:ext cx="109220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D6DDF0"/>
                </a:solidFill>
                <a:latin typeface="MiSans"/>
                <a:ea typeface="MiSans"/>
              </a:rPr>
              <a:t>课标在环 · 多 Agent 协同 · 自适应学习引擎</a:t>
            </a:r>
            <a:endParaRPr lang="en-US" sz="1800" noProof="1"/>
          </a:p>
        </p:txBody>
      </p:sp>
      <p:sp>
        <p:nvSpPr>
          <p:cNvPr id="6" name="track-pill"/>
          <p:cNvSpPr/>
          <p:nvPr/>
        </p:nvSpPr>
        <p:spPr>
          <a:xfrm>
            <a:off x="609600" y="4318000"/>
            <a:ext cx="2794000" cy="457200"/>
          </a:xfrm>
          <a:prstGeom prst="roundRect">
            <a:avLst/>
          </a:prstGeom>
          <a:solidFill>
            <a:srgbClr val="1A4BC4"/>
          </a:solidFill>
          <a:ln>
            <a:noFill/>
          </a:ln>
        </p:spPr>
      </p:sp>
      <p:sp>
        <p:nvSpPr>
          <p:cNvPr id="7" name="track-text"/>
          <p:cNvSpPr txBox="1"/>
          <p:nvPr/>
        </p:nvSpPr>
        <p:spPr>
          <a:xfrm>
            <a:off x="609600" y="4381500"/>
            <a:ext cx="2794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赛道二 | AI+教育</a:t>
            </a:r>
            <a:endParaRPr lang="en-US" sz="1600" noProof="1"/>
          </a:p>
        </p:txBody>
      </p:sp>
      <p:sp>
        <p:nvSpPr>
          <p:cNvPr id="8" name="meta"/>
          <p:cNvSpPr txBox="1"/>
          <p:nvPr/>
        </p:nvSpPr>
        <p:spPr>
          <a:xfrm>
            <a:off x="609600" y="5461000"/>
            <a:ext cx="10922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500" noProof="1">
                <a:solidFill>
                  <a:srgbClr val="A8B6E0"/>
                </a:solidFill>
                <a:latin typeface="MiSans"/>
                <a:ea typeface="MiSans"/>
              </a:rPr>
              <a:t>第 16 队　·　2026.09.06</a:t>
            </a:r>
            <a:endParaRPr lang="en-US" sz="1500" noProof="1"/>
          </a:p>
          <a:p>
            <a:pPr>
              <a:lnSpc>
                <a:spcPct val="150000"/>
              </a:lnSpc>
            </a:pPr>
            <a:r>
              <a:rPr lang="en-US" sz="1500" noProof="1">
                <a:solidFill>
                  <a:srgbClr val="A8B6E0"/>
                </a:solidFill>
                <a:latin typeface="MiSans"/>
                <a:ea typeface="MiSans"/>
              </a:rPr>
              <a:t>https://github.com/QinHsiu/ILearn</a:t>
            </a:r>
            <a:endParaRPr lang="en-US" sz="1500" noProof="1"/>
          </a:p>
        </p:txBody>
      </p:sp>
    </p:spTree>
  </p:cSld>
  <p:clrMapOvr>
    <a:masterClrMapping/>
  </p:clrMapOvr>
  <p:transition spd="fast" advClick="1">
    <p:fade/>
  </p:transition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609600" y="406400"/>
            <a:ext cx="71120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3" name="page-title"/>
          <p:cNvSpPr txBox="1"/>
          <p:nvPr/>
        </p:nvSpPr>
        <p:spPr>
          <a:xfrm>
            <a:off x="609600" y="609600"/>
            <a:ext cx="1092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002FA7"/>
                </a:solidFill>
                <a:latin typeface="MiSans"/>
                <a:ea typeface="MiSans"/>
              </a:rPr>
              <a:t>一个课堂、同一进度，为什么有的孩子越学越吃力？</a:t>
            </a:r>
            <a:endParaRPr lang="en-US" sz="2800" noProof="1"/>
          </a:p>
        </p:txBody>
      </p:sp>
      <p:sp>
        <p:nvSpPr>
          <p:cNvPr id="4" name="card-left"/>
          <p:cNvSpPr/>
          <p:nvPr/>
        </p:nvSpPr>
        <p:spPr>
          <a:xfrm>
            <a:off x="609600" y="1397000"/>
            <a:ext cx="5207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5" name="card-left-title"/>
          <p:cNvSpPr txBox="1"/>
          <p:nvPr/>
        </p:nvSpPr>
        <p:spPr>
          <a:xfrm>
            <a:off x="914400" y="1651000"/>
            <a:ext cx="4572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002FA7"/>
                </a:solidFill>
                <a:latin typeface="MiSans"/>
                <a:ea typeface="MiSans"/>
              </a:rPr>
              <a:t>现实困境</a:t>
            </a:r>
            <a:endParaRPr lang="en-US" sz="1800" noProof="1"/>
          </a:p>
        </p:txBody>
      </p:sp>
      <p:sp>
        <p:nvSpPr>
          <p:cNvPr id="6" name="card-left-body"/>
          <p:cNvSpPr txBox="1"/>
          <p:nvPr/>
        </p:nvSpPr>
        <p:spPr>
          <a:xfrm>
            <a:off x="914400" y="2286000"/>
            <a:ext cx="4572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800" noProof="1" b="1">
                <a:solidFill>
                  <a:srgbClr val="1A2332"/>
                </a:solidFill>
                <a:latin typeface="MiSans"/>
                <a:ea typeface="MiSans"/>
              </a:rPr>
              <a:t>42%</a:t>
            </a:r>
            <a:r>
              <a:rPr lang="en-US" sz="1800" noProof="1">
                <a:solidFill>
                  <a:srgbClr val="1A2332"/>
                </a:solidFill>
                <a:latin typeface="MiSans"/>
                <a:ea typeface="MiSans"/>
              </a:rPr>
              <a:t> 小学生认为数学最难学好</a:t>
            </a:r>
            <a:endParaRPr lang="en-US" sz="1800" noProof="1"/>
          </a:p>
          <a:p>
            <a:pPr>
              <a:lnSpc>
                <a:spcPct val="140000"/>
              </a:lnSpc>
              <a:spcBef>
                <a:spcPts val="1600"/>
              </a:spcBef>
            </a:pPr>
            <a:r>
              <a:rPr lang="en-US" sz="1800" noProof="1">
                <a:solidFill>
                  <a:srgbClr val="1A2332"/>
                </a:solidFill>
                <a:latin typeface="MiSans"/>
                <a:ea typeface="MiSans"/>
              </a:rPr>
              <a:t>班级掌握度差异高达 </a:t>
            </a:r>
            <a:r>
              <a:rPr lang="en-US" sz="1800" noProof="1" b="1">
                <a:solidFill>
                  <a:srgbClr val="1A2332"/>
                </a:solidFill>
                <a:latin typeface="MiSans"/>
                <a:ea typeface="MiSans"/>
              </a:rPr>
              <a:t>30%+</a:t>
            </a:r>
            <a:endParaRPr lang="en-US" sz="1800" noProof="1"/>
          </a:p>
          <a:p>
            <a:pPr>
              <a:lnSpc>
                <a:spcPct val="140000"/>
              </a:lnSpc>
              <a:spcBef>
                <a:spcPts val="1600"/>
              </a:spcBef>
            </a:pPr>
            <a:r>
              <a:rPr lang="en-US" sz="1800" noProof="1">
                <a:solidFill>
                  <a:srgbClr val="1A2332"/>
                </a:solidFill>
                <a:latin typeface="MiSans"/>
                <a:ea typeface="MiSans"/>
              </a:rPr>
              <a:t>统一进度下，缺口只会越拖越远</a:t>
            </a:r>
            <a:endParaRPr lang="en-US" sz="1800" noProof="1"/>
          </a:p>
        </p:txBody>
      </p:sp>
      <p:sp>
        <p:nvSpPr>
          <p:cNvPr id="7" name="card-right"/>
          <p:cNvSpPr/>
          <p:nvPr/>
        </p:nvSpPr>
        <p:spPr>
          <a:xfrm>
            <a:off x="6223000" y="1397000"/>
            <a:ext cx="5334000" cy="330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8" name="card-right-title"/>
          <p:cNvSpPr txBox="1"/>
          <p:nvPr/>
        </p:nvSpPr>
        <p:spPr>
          <a:xfrm>
            <a:off x="6527800" y="1651000"/>
            <a:ext cx="46990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002FA7"/>
                </a:solidFill>
                <a:latin typeface="MiSans"/>
                <a:ea typeface="MiSans"/>
              </a:rPr>
              <a:t>核心洞察</a:t>
            </a:r>
            <a:endParaRPr lang="en-US" sz="1800" noProof="1"/>
          </a:p>
        </p:txBody>
      </p:sp>
      <p:sp>
        <p:nvSpPr>
          <p:cNvPr id="9" name="card-right-body"/>
          <p:cNvSpPr txBox="1"/>
          <p:nvPr/>
        </p:nvSpPr>
        <p:spPr>
          <a:xfrm>
            <a:off x="6527800" y="2286000"/>
            <a:ext cx="4699000" cy="203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800" noProof="1">
                <a:solidFill>
                  <a:srgbClr val="1A2332"/>
                </a:solidFill>
                <a:latin typeface="MiSans"/>
                <a:ea typeface="MiSans"/>
              </a:rPr>
              <a:t>同一进度推着所有人走</a:t>
            </a:r>
            <a:endParaRPr lang="en-US" sz="1800" noProof="1"/>
          </a:p>
          <a:p>
            <a:pPr>
              <a:lnSpc>
                <a:spcPct val="140000"/>
              </a:lnSpc>
              <a:spcBef>
                <a:spcPts val="1600"/>
              </a:spcBef>
            </a:pPr>
            <a:r>
              <a:rPr lang="en-US" sz="1800" noProof="1">
                <a:solidFill>
                  <a:srgbClr val="1A2332"/>
                </a:solidFill>
                <a:latin typeface="MiSans"/>
                <a:ea typeface="MiSans"/>
              </a:rPr>
              <a:t>每个孩子的知识缺口完全不同</a:t>
            </a:r>
            <a:endParaRPr lang="en-US" sz="1800" noProof="1"/>
          </a:p>
          <a:p>
            <a:pPr>
              <a:lnSpc>
                <a:spcPct val="140000"/>
              </a:lnSpc>
              <a:spcBef>
                <a:spcPts val="1600"/>
              </a:spcBef>
            </a:pPr>
            <a:r>
              <a:rPr lang="en-US" sz="1800" noProof="1">
                <a:solidFill>
                  <a:srgbClr val="1A2332"/>
                </a:solidFill>
                <a:latin typeface="MiSans"/>
                <a:ea typeface="MiSans"/>
              </a:rPr>
              <a:t>有人卡在「小数乘法」</a:t>
            </a:r>
            <a:endParaRPr lang="en-US" sz="18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800" noProof="1">
                <a:solidFill>
                  <a:srgbClr val="1A2332"/>
                </a:solidFill>
                <a:latin typeface="MiSans"/>
                <a:ea typeface="MiSans"/>
              </a:rPr>
              <a:t>有人困在「分数除法」</a:t>
            </a:r>
            <a:endParaRPr lang="en-US" sz="1800" noProof="1"/>
          </a:p>
        </p:txBody>
      </p:sp>
      <p:sp>
        <p:nvSpPr>
          <p:cNvPr id="10" name="footer"/>
          <p:cNvSpPr txBox="1"/>
          <p:nvPr/>
        </p:nvSpPr>
        <p:spPr>
          <a:xfrm>
            <a:off x="609600" y="5080000"/>
            <a:ext cx="10922000" cy="101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800" noProof="1">
                <a:solidFill>
                  <a:srgbClr val="1A2332"/>
                </a:solidFill>
                <a:latin typeface="MiSans"/>
                <a:ea typeface="MiSans"/>
              </a:rPr>
              <a:t>用同一个节奏教全班，跟不上的孩子只会越拖越远。</a:t>
            </a:r>
            <a:endParaRPr lang="en-US" sz="1800" noProof="1"/>
          </a:p>
          <a:p>
            <a:pPr>
              <a:lnSpc>
                <a:spcPct val="145000"/>
              </a:lnSpc>
            </a:pPr>
            <a:r>
              <a:rPr lang="en-US" sz="1800" noProof="1" b="1">
                <a:solidFill>
                  <a:srgbClr val="1A2332"/>
                </a:solidFill>
                <a:latin typeface="MiSans"/>
                <a:ea typeface="MiSans"/>
              </a:rPr>
              <a:t>ILearn 要解决的，就是这个真实困境。</a:t>
            </a:r>
            <a:endParaRPr lang="en-US" sz="1800" noProof="1"/>
          </a:p>
        </p:txBody>
      </p:sp>
    </p:spTree>
  </p:cSld>
  <p:clrMapOvr>
    <a:masterClrMapping/>
  </p:clrMapOvr>
  <p:transition spd="fast" advClick="1">
    <p:fade/>
  </p:transition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609600" y="406400"/>
            <a:ext cx="71120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3" name="page-title"/>
          <p:cNvSpPr txBox="1"/>
          <p:nvPr/>
        </p:nvSpPr>
        <p:spPr>
          <a:xfrm>
            <a:off x="609600" y="609600"/>
            <a:ext cx="1092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002FA7"/>
                </a:solidFill>
                <a:latin typeface="MiSans"/>
                <a:ea typeface="MiSans"/>
              </a:rPr>
              <a:t>ILearn 解决方案</a:t>
            </a:r>
            <a:endParaRPr lang="en-US" sz="2800" noProof="1"/>
          </a:p>
        </p:txBody>
      </p:sp>
      <p:sp>
        <p:nvSpPr>
          <p:cNvPr id="4" name="page-sub"/>
          <p:cNvSpPr txBox="1"/>
          <p:nvPr/>
        </p:nvSpPr>
        <p:spPr>
          <a:xfrm>
            <a:off x="609600" y="1143000"/>
            <a:ext cx="109220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5F6B7A"/>
                </a:solidFill>
                <a:latin typeface="MiSans"/>
                <a:ea typeface="MiSans"/>
              </a:rPr>
              <a:t>课标在环 · 多 Agent 协同 · 自适应个性化学习</a:t>
            </a:r>
            <a:endParaRPr lang="en-US" sz="1400" noProof="1"/>
          </a:p>
        </p:txBody>
      </p:sp>
      <p:sp>
        <p:nvSpPr>
          <p:cNvPr id="5" name="pipeline-bg"/>
          <p:cNvSpPr/>
          <p:nvPr/>
        </p:nvSpPr>
        <p:spPr>
          <a:xfrm>
            <a:off x="609600" y="1651000"/>
            <a:ext cx="10972800" cy="2159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6" name="pipeline"/>
          <p:cNvSpPr txBox="1"/>
          <p:nvPr/>
        </p:nvSpPr>
        <p:spPr>
          <a:xfrm>
            <a:off x="812800" y="1905000"/>
            <a:ext cx="105664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700" noProof="1" b="1">
                <a:solidFill>
                  <a:srgbClr val="1A2332"/>
                </a:solidFill>
                <a:latin typeface="MiSans"/>
                <a:ea typeface="MiSans"/>
              </a:rPr>
              <a:t>测评 → 批改 → 诊断 → 规划 → 巩固</a:t>
            </a:r>
            <a:endParaRPr lang="en-US" sz="1700" noProof="1"/>
          </a:p>
          <a:p>
            <a:pPr>
              <a:lnSpc>
                <a:spcPct val="155000"/>
              </a:lnSpc>
              <a:spcBef>
                <a:spcPts val="1400"/>
              </a:spcBef>
            </a:pPr>
            <a:r>
              <a:rPr lang="en-US" sz="1700" noProof="1">
                <a:solidFill>
                  <a:srgbClr val="1A2332"/>
                </a:solidFill>
                <a:latin typeface="MiSans"/>
                <a:ea typeface="MiSans"/>
              </a:rPr>
              <a:t>找缺口　　即时反馈　　定位根因　　生成方案　　闭环验证</a:t>
            </a:r>
            <a:endParaRPr lang="en-US" sz="1700" noProof="1"/>
          </a:p>
          <a:p>
            <a:pPr>
              <a:lnSpc>
                <a:spcPct val="155000"/>
              </a:lnSpc>
              <a:spcBef>
                <a:spcPts val="1800"/>
              </a:spcBef>
            </a:pPr>
            <a:r>
              <a:rPr lang="en-US" sz="1500" noProof="1">
                <a:solidFill>
                  <a:srgbClr val="5F6B7A"/>
                </a:solidFill>
                <a:latin typeface="MiSans"/>
                <a:ea typeface="MiSans"/>
              </a:rPr>
              <a:t>五个环节环环相扣，形成可验证的完整学习闭环</a:t>
            </a:r>
            <a:endParaRPr lang="en-US" sz="1700" noProof="1"/>
          </a:p>
        </p:txBody>
      </p:sp>
      <p:sp>
        <p:nvSpPr>
          <p:cNvPr id="7" name="role1"/>
          <p:cNvSpPr/>
          <p:nvPr/>
        </p:nvSpPr>
        <p:spPr>
          <a:xfrm>
            <a:off x="609600" y="4191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8" name="role1-t"/>
          <p:cNvSpPr txBox="1"/>
          <p:nvPr/>
        </p:nvSpPr>
        <p:spPr>
          <a:xfrm>
            <a:off x="812800" y="4445000"/>
            <a:ext cx="3022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 b="1">
                <a:solidFill>
                  <a:srgbClr val="002FA7"/>
                </a:solidFill>
                <a:latin typeface="MiSans"/>
                <a:ea typeface="MiSans"/>
              </a:rPr>
              <a:t>教师端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班级扫描与干预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薄弱点排行 · 优先名单</a:t>
            </a:r>
            <a:endParaRPr lang="en-US" sz="1600" noProof="1"/>
          </a:p>
        </p:txBody>
      </p:sp>
      <p:sp>
        <p:nvSpPr>
          <p:cNvPr id="9" name="role2"/>
          <p:cNvSpPr/>
          <p:nvPr/>
        </p:nvSpPr>
        <p:spPr>
          <a:xfrm>
            <a:off x="4381500" y="4191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10" name="role2-t"/>
          <p:cNvSpPr txBox="1"/>
          <p:nvPr/>
        </p:nvSpPr>
        <p:spPr>
          <a:xfrm>
            <a:off x="4584700" y="4445000"/>
            <a:ext cx="3022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 b="1">
                <a:solidFill>
                  <a:srgbClr val="002FA7"/>
                </a:solidFill>
                <a:latin typeface="MiSans"/>
                <a:ea typeface="MiSans"/>
              </a:rPr>
              <a:t>家长端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纯净报告与建议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日常用语 · 可操作</a:t>
            </a:r>
            <a:endParaRPr lang="en-US" sz="1600" noProof="1"/>
          </a:p>
        </p:txBody>
      </p:sp>
      <p:sp>
        <p:nvSpPr>
          <p:cNvPr id="11" name="role3"/>
          <p:cNvSpPr/>
          <p:nvPr/>
        </p:nvSpPr>
        <p:spPr>
          <a:xfrm>
            <a:off x="8153400" y="4191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12" name="role3-t"/>
          <p:cNvSpPr txBox="1"/>
          <p:nvPr/>
        </p:nvSpPr>
        <p:spPr>
          <a:xfrm>
            <a:off x="8356600" y="4445000"/>
            <a:ext cx="30226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 b="1">
                <a:solidFill>
                  <a:srgbClr val="002FA7"/>
                </a:solidFill>
                <a:latin typeface="MiSans"/>
                <a:ea typeface="MiSans"/>
              </a:rPr>
              <a:t>学生端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自适应测评与激励</a:t>
            </a:r>
            <a:endParaRPr lang="en-US" sz="1600" noProof="1"/>
          </a:p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苏格拉底引导 · 星星</a:t>
            </a:r>
            <a:endParaRPr lang="en-US" sz="1600" noProof="1"/>
          </a:p>
        </p:txBody>
      </p:sp>
    </p:spTree>
  </p:cSld>
  <p:clrMapOvr>
    <a:masterClrMapping/>
  </p:clrMapOvr>
  <p:transition spd="fast" advClick="1">
    <p:fade/>
  </p:transition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609600" y="406400"/>
            <a:ext cx="71120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3" name="page-title"/>
          <p:cNvSpPr txBox="1"/>
          <p:nvPr/>
        </p:nvSpPr>
        <p:spPr>
          <a:xfrm>
            <a:off x="609600" y="609600"/>
            <a:ext cx="1092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002FA7"/>
                </a:solidFill>
                <a:latin typeface="MiSans"/>
                <a:ea typeface="MiSans"/>
              </a:rPr>
              <a:t>多 Agent 协同架构</a:t>
            </a:r>
            <a:endParaRPr lang="en-US" sz="2800" noProof="1"/>
          </a:p>
        </p:txBody>
      </p:sp>
      <p:sp>
        <p:nvSpPr>
          <p:cNvPr id="4" name="page-sub"/>
          <p:cNvSpPr txBox="1"/>
          <p:nvPr/>
        </p:nvSpPr>
        <p:spPr>
          <a:xfrm>
            <a:off x="609600" y="1143000"/>
            <a:ext cx="1092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5F6B7A"/>
                </a:solidFill>
                <a:latin typeface="MiSans"/>
                <a:ea typeface="MiSans"/>
              </a:rPr>
              <a:t>五 Agent 流水线协同 · 全流程可观测、可追溯</a:t>
            </a:r>
            <a:endParaRPr lang="en-US" sz="1400" noProof="1"/>
          </a:p>
        </p:txBody>
      </p:sp>
      <p:graphicFrame>
        <p:nvGraphicFramePr>
          <p:cNvPr id="5" name="agents"/>
          <p:cNvGraphicFramePr>
            <a:graphicFrameLocks noGrp="1"/>
          </p:cNvGraphicFramePr>
          <p:nvPr/>
        </p:nvGraphicFramePr>
        <p:xfrm>
          <a:off x="609600" y="1625600"/>
          <a:ext cx="10972800" cy="3175000"/>
        </p:xfrm>
        <a:graphic>
          <a:graphicData uri="http://schemas.openxmlformats.org/drawingml/2006/table">
            <a:tbl>
              <a:tblPr/>
              <a:tblGrid>
                <a:gridCol w="3072384"/>
                <a:gridCol w="2414016"/>
                <a:gridCol w="5486400"/>
              </a:tblGrid>
              <a:tr h="5270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Agent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职责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关键能力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002FA7"/>
                    </a:solidFill>
                  </a:tcPr>
                </a:tc>
              </a:tr>
              <a:tr h="5270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Curriculum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课标检索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keyword / hash_vector / Qdrant 对齐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Assessment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自适应组卷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诊断卷 · 巩固卷 · 能力分层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5270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Practice / Tutor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批改与辅导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即时反馈 · 苏格拉底三级提示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70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Diagnosis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证据诊断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Evidence Log · diagnosis_confidence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53975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Planning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计划生成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科学学习方法 · 间隔复习 · 可重规划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footer"/>
          <p:cNvSpPr txBox="1"/>
          <p:nvPr/>
        </p:nvSpPr>
        <p:spPr>
          <a:xfrm>
            <a:off x="609600" y="5080000"/>
            <a:ext cx="109728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600" noProof="1" b="1">
                <a:solidFill>
                  <a:srgbClr val="002FA7"/>
                </a:solidFill>
                <a:latin typeface="MiSans"/>
                <a:ea typeface="MiSans"/>
              </a:rPr>
              <a:t>关键能力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课标对齐 · 证据驱动 · 编排可观测（decision_log + 上下文预算）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5F6B7A"/>
                </a:solidFill>
                <a:latin typeface="MiSans"/>
                <a:ea typeface="MiSans"/>
              </a:rPr>
              <a:t>零 LLM 可离线降级运行，规则引擎保障演示与试点稳定性</a:t>
            </a:r>
            <a:endParaRPr lang="en-US" sz="1600" noProof="1"/>
          </a:p>
        </p:txBody>
      </p:sp>
    </p:spTree>
  </p:cSld>
  <p:clrMapOvr>
    <a:masterClrMapping/>
  </p:clrMapOvr>
  <p:transition spd="fast" advClick="1">
    <p:fade/>
  </p:transition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609600" y="406400"/>
            <a:ext cx="71120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3" name="page-title"/>
          <p:cNvSpPr txBox="1"/>
          <p:nvPr/>
        </p:nvSpPr>
        <p:spPr>
          <a:xfrm>
            <a:off x="609600" y="609600"/>
            <a:ext cx="1092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002FA7"/>
                </a:solidFill>
                <a:latin typeface="MiSans"/>
                <a:ea typeface="MiSans"/>
              </a:rPr>
              <a:t>完整任务链路：从诊断到巩固</a:t>
            </a:r>
            <a:endParaRPr lang="en-US" sz="2800" noProof="1"/>
          </a:p>
        </p:txBody>
      </p:sp>
      <p:sp>
        <p:nvSpPr>
          <p:cNvPr id="4" name="chain-bg"/>
          <p:cNvSpPr/>
          <p:nvPr/>
        </p:nvSpPr>
        <p:spPr>
          <a:xfrm>
            <a:off x="609600" y="1397000"/>
            <a:ext cx="10972800" cy="4191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5" name="chain"/>
          <p:cNvSpPr txBox="1"/>
          <p:nvPr/>
        </p:nvSpPr>
        <p:spPr>
          <a:xfrm>
            <a:off x="914400" y="1651000"/>
            <a:ext cx="10363200" cy="3556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700" noProof="1" b="1">
                <a:solidFill>
                  <a:srgbClr val="002FA7"/>
                </a:solidFill>
                <a:latin typeface="MiSans"/>
                <a:ea typeface="MiSans"/>
              </a:rPr>
              <a:t>01 用户输入</a:t>
            </a:r>
            <a:r>
              <a:rPr lang="en-US" sz="1700" noProof="1">
                <a:solidFill>
                  <a:srgbClr val="1A2332"/>
                </a:solidFill>
                <a:latin typeface="MiSans"/>
                <a:ea typeface="MiSans"/>
              </a:rPr>
              <a:t>　选择年级 / 学科 → 开始测评</a:t>
            </a:r>
            <a:endParaRPr lang="en-US" sz="17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noProof="1" b="1">
                <a:solidFill>
                  <a:srgbClr val="002FA7"/>
                </a:solidFill>
                <a:latin typeface="MiSans"/>
                <a:ea typeface="MiSans"/>
              </a:rPr>
              <a:t>02 Agent 处理</a:t>
            </a:r>
            <a:r>
              <a:rPr lang="en-US" sz="1700" noProof="1">
                <a:solidFill>
                  <a:srgbClr val="1A2332"/>
                </a:solidFill>
                <a:latin typeface="MiSans"/>
                <a:ea typeface="MiSans"/>
              </a:rPr>
              <a:t>　自适应组卷 → 智能批改 → 证据诊断</a:t>
            </a:r>
            <a:endParaRPr lang="en-US" sz="17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noProof="1" b="1">
                <a:solidFill>
                  <a:srgbClr val="002FA7"/>
                </a:solidFill>
                <a:latin typeface="MiSans"/>
                <a:ea typeface="MiSans"/>
              </a:rPr>
              <a:t>03 工具与知识库</a:t>
            </a:r>
            <a:r>
              <a:rPr lang="en-US" sz="1700" noProof="1">
                <a:solidFill>
                  <a:srgbClr val="1A2332"/>
                </a:solidFill>
                <a:latin typeface="MiSans"/>
                <a:ea typeface="MiSans"/>
              </a:rPr>
              <a:t>　课标检索 → 题库匹配 → 知识图谱</a:t>
            </a:r>
            <a:endParaRPr lang="en-US" sz="17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noProof="1" b="1">
                <a:solidFill>
                  <a:srgbClr val="002FA7"/>
                </a:solidFill>
                <a:latin typeface="MiSans"/>
                <a:ea typeface="MiSans"/>
              </a:rPr>
              <a:t>04 结果交付</a:t>
            </a:r>
            <a:r>
              <a:rPr lang="en-US" sz="1700" noProof="1">
                <a:solidFill>
                  <a:srgbClr val="1A2332"/>
                </a:solidFill>
                <a:latin typeface="MiSans"/>
                <a:ea typeface="MiSans"/>
              </a:rPr>
              <a:t>　个性化学习计划 → 三端报告 → PDF 导出</a:t>
            </a:r>
            <a:endParaRPr lang="en-US" sz="17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noProof="1" b="1">
                <a:solidFill>
                  <a:srgbClr val="002FA7"/>
                </a:solidFill>
                <a:latin typeface="MiSans"/>
                <a:ea typeface="MiSans"/>
              </a:rPr>
              <a:t>05 异常处理</a:t>
            </a:r>
            <a:r>
              <a:rPr lang="en-US" sz="1700" noProof="1">
                <a:solidFill>
                  <a:srgbClr val="1A2332"/>
                </a:solidFill>
                <a:latin typeface="MiSans"/>
                <a:ea typeface="MiSans"/>
              </a:rPr>
              <a:t>　LLM 降级 → 规则引擎备用 → 超时自动提交</a:t>
            </a:r>
            <a:endParaRPr lang="en-US" sz="1700" noProof="1"/>
          </a:p>
          <a:p>
            <a:pPr>
              <a:lnSpc>
                <a:spcPct val="155000"/>
              </a:lnSpc>
              <a:spcBef>
                <a:spcPts val="1000"/>
              </a:spcBef>
            </a:pPr>
            <a:r>
              <a:rPr lang="en-US" sz="1700" noProof="1" b="1">
                <a:solidFill>
                  <a:srgbClr val="002FA7"/>
                </a:solidFill>
                <a:latin typeface="MiSans"/>
                <a:ea typeface="MiSans"/>
              </a:rPr>
              <a:t>06 效果验证</a:t>
            </a:r>
            <a:r>
              <a:rPr lang="en-US" sz="1700" noProof="1">
                <a:solidFill>
                  <a:srgbClr val="1A2332"/>
                </a:solidFill>
                <a:latin typeface="MiSans"/>
                <a:ea typeface="MiSans"/>
              </a:rPr>
              <a:t>　前后对比 → 掌握度提升 → 批改时间节省</a:t>
            </a:r>
            <a:endParaRPr lang="en-US" sz="1700" noProof="1"/>
          </a:p>
        </p:txBody>
      </p:sp>
      <p:sp>
        <p:nvSpPr>
          <p:cNvPr id="6" name="badge"/>
          <p:cNvSpPr txBox="1"/>
          <p:nvPr/>
        </p:nvSpPr>
        <p:spPr>
          <a:xfrm>
            <a:off x="609600" y="5842000"/>
            <a:ext cx="109728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4CAF50"/>
                </a:solidFill>
                <a:latin typeface="MiSans"/>
                <a:ea typeface="MiSans"/>
              </a:rPr>
              <a:t>一条链路，完整闭环，可验证</a:t>
            </a:r>
            <a:endParaRPr lang="en-US" sz="1800" noProof="1"/>
          </a:p>
        </p:txBody>
      </p:sp>
    </p:spTree>
  </p:cSld>
  <p:clrMapOvr>
    <a:masterClrMapping/>
  </p:clrMapOvr>
  <p:transition spd="fast" advClick="1">
    <p:fade/>
  </p:transition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609600" y="406400"/>
            <a:ext cx="71120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3" name="page-title"/>
          <p:cNvSpPr txBox="1"/>
          <p:nvPr/>
        </p:nvSpPr>
        <p:spPr>
          <a:xfrm>
            <a:off x="609600" y="609600"/>
            <a:ext cx="1092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002FA7"/>
                </a:solidFill>
                <a:latin typeface="MiSans"/>
                <a:ea typeface="MiSans"/>
              </a:rPr>
              <a:t>三端协同，各取所需</a:t>
            </a:r>
            <a:endParaRPr lang="en-US" sz="2800" noProof="1"/>
          </a:p>
        </p:txBody>
      </p:sp>
      <p:sp>
        <p:nvSpPr>
          <p:cNvPr id="4" name="t-card"/>
          <p:cNvSpPr/>
          <p:nvPr/>
        </p:nvSpPr>
        <p:spPr>
          <a:xfrm>
            <a:off x="609600" y="1397000"/>
            <a:ext cx="3556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5" name="t-title"/>
          <p:cNvSpPr txBox="1"/>
          <p:nvPr/>
        </p:nvSpPr>
        <p:spPr>
          <a:xfrm>
            <a:off x="812800" y="1625600"/>
            <a:ext cx="314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002FA7"/>
                </a:solidFill>
                <a:latin typeface="MiSans"/>
                <a:ea typeface="MiSans"/>
              </a:rPr>
              <a:t>教师端</a:t>
            </a:r>
            <a:endParaRPr lang="en-US" sz="1800" noProof="1"/>
          </a:p>
        </p:txBody>
      </p:sp>
      <p:sp>
        <p:nvSpPr>
          <p:cNvPr id="6" name="t-body"/>
          <p:cNvSpPr txBox="1"/>
          <p:nvPr/>
        </p:nvSpPr>
        <p:spPr>
          <a:xfrm>
            <a:off x="812800" y="2222500"/>
            <a:ext cx="31496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班级掌握度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薄弱点排行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干预学生列表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导出班级报告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600" noProof="1">
                <a:solidFill>
                  <a:srgbClr val="5F6B7A"/>
                </a:solidFill>
                <a:latin typeface="MiSans"/>
                <a:ea typeface="MiSans"/>
              </a:rPr>
              <a:t>从批改中解放，聚焦教学</a:t>
            </a:r>
            <a:endParaRPr lang="en-US" sz="1600" noProof="1"/>
          </a:p>
        </p:txBody>
      </p:sp>
      <p:sp>
        <p:nvSpPr>
          <p:cNvPr id="7" name="p-card"/>
          <p:cNvSpPr/>
          <p:nvPr/>
        </p:nvSpPr>
        <p:spPr>
          <a:xfrm>
            <a:off x="4318000" y="1397000"/>
            <a:ext cx="3556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8" name="p-title"/>
          <p:cNvSpPr txBox="1"/>
          <p:nvPr/>
        </p:nvSpPr>
        <p:spPr>
          <a:xfrm>
            <a:off x="4521200" y="1625600"/>
            <a:ext cx="314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002FA7"/>
                </a:solidFill>
                <a:latin typeface="MiSans"/>
                <a:ea typeface="MiSans"/>
              </a:rPr>
              <a:t>家长端</a:t>
            </a:r>
            <a:endParaRPr lang="en-US" sz="1800" noProof="1"/>
          </a:p>
        </p:txBody>
      </p:sp>
      <p:sp>
        <p:nvSpPr>
          <p:cNvPr id="9" name="p-body"/>
          <p:cNvSpPr txBox="1"/>
          <p:nvPr/>
        </p:nvSpPr>
        <p:spPr>
          <a:xfrm>
            <a:off x="4521200" y="2222500"/>
            <a:ext cx="31496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孩子学习进度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家庭辅导建议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无术语报告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看得懂、可操作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600" noProof="1">
                <a:solidFill>
                  <a:srgbClr val="5F6B7A"/>
                </a:solidFill>
                <a:latin typeface="MiSans"/>
                <a:ea typeface="MiSans"/>
              </a:rPr>
              <a:t>日常用语，降低焦虑</a:t>
            </a:r>
            <a:endParaRPr lang="en-US" sz="1600" noProof="1"/>
          </a:p>
        </p:txBody>
      </p:sp>
      <p:sp>
        <p:nvSpPr>
          <p:cNvPr id="10" name="s-card"/>
          <p:cNvSpPr/>
          <p:nvPr/>
        </p:nvSpPr>
        <p:spPr>
          <a:xfrm>
            <a:off x="8026400" y="1397000"/>
            <a:ext cx="3556000" cy="35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11" name="s-title"/>
          <p:cNvSpPr txBox="1"/>
          <p:nvPr/>
        </p:nvSpPr>
        <p:spPr>
          <a:xfrm>
            <a:off x="8229600" y="1625600"/>
            <a:ext cx="3149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800" noProof="1" b="1">
                <a:solidFill>
                  <a:srgbClr val="002FA7"/>
                </a:solidFill>
                <a:latin typeface="MiSans"/>
                <a:ea typeface="MiSans"/>
              </a:rPr>
              <a:t>学生端</a:t>
            </a:r>
            <a:endParaRPr lang="en-US" sz="1800" noProof="1"/>
          </a:p>
        </p:txBody>
      </p:sp>
      <p:sp>
        <p:nvSpPr>
          <p:cNvPr id="12" name="s-body"/>
          <p:cNvSpPr txBox="1"/>
          <p:nvPr/>
        </p:nvSpPr>
        <p:spPr>
          <a:xfrm>
            <a:off x="8229600" y="2222500"/>
            <a:ext cx="3149600" cy="241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自适应测评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苏格拉底引导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星星激励</a:t>
            </a:r>
            <a:endParaRPr lang="en-US" sz="1600" noProof="1"/>
          </a:p>
          <a:p>
            <a:pPr>
              <a:lnSpc>
                <a:spcPct val="150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进度可视化</a:t>
            </a:r>
            <a:endParaRPr lang="en-US" sz="1600" noProof="1"/>
          </a:p>
          <a:p>
            <a:pPr>
              <a:lnSpc>
                <a:spcPct val="150000"/>
              </a:lnSpc>
              <a:spcBef>
                <a:spcPts val="1400"/>
              </a:spcBef>
            </a:pPr>
            <a:r>
              <a:rPr lang="en-US" sz="1600" noProof="1">
                <a:solidFill>
                  <a:srgbClr val="5F6B7A"/>
                </a:solidFill>
                <a:latin typeface="MiSans"/>
                <a:ea typeface="MiSans"/>
              </a:rPr>
              <a:t>个性化路径，即时反馈</a:t>
            </a:r>
            <a:endParaRPr lang="en-US" sz="1600" noProof="1"/>
          </a:p>
        </p:txBody>
      </p:sp>
      <p:sp>
        <p:nvSpPr>
          <p:cNvPr id="13" name="footer"/>
          <p:cNvSpPr txBox="1"/>
          <p:nvPr/>
        </p:nvSpPr>
        <p:spPr>
          <a:xfrm>
            <a:off x="609600" y="5334000"/>
            <a:ext cx="109728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>
                <a:solidFill>
                  <a:srgbClr val="5F6B7A"/>
                </a:solidFill>
                <a:latin typeface="MiSans"/>
                <a:ea typeface="MiSans"/>
              </a:rPr>
              <a:t>差异化价值：教师拿班级干预清单 · 家长拿家庭辅导建议 · 学生拿个性化巩固路径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600" noProof="1">
                <a:solidFill>
                  <a:srgbClr val="5F6B7A"/>
                </a:solidFill>
                <a:latin typeface="MiSans"/>
                <a:ea typeface="MiSans"/>
              </a:rPr>
              <a:t>家长端强制清洗内部 ID，不出现 kp_* / 课标黑话</a:t>
            </a:r>
            <a:endParaRPr lang="en-US" sz="1600" noProof="1"/>
          </a:p>
        </p:txBody>
      </p:sp>
    </p:spTree>
  </p:cSld>
  <p:clrMapOvr>
    <a:masterClrMapping/>
  </p:clrMapOvr>
  <p:transition spd="fast" advClick="1">
    <p:fade/>
  </p:transition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609600" y="406400"/>
            <a:ext cx="71120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3" name="page-title"/>
          <p:cNvSpPr txBox="1"/>
          <p:nvPr/>
        </p:nvSpPr>
        <p:spPr>
          <a:xfrm>
            <a:off x="609600" y="609600"/>
            <a:ext cx="1092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002FA7"/>
                </a:solidFill>
                <a:latin typeface="MiSans"/>
                <a:ea typeface="MiSans"/>
              </a:rPr>
              <a:t>教学效果量化验证</a:t>
            </a:r>
            <a:endParaRPr lang="en-US" sz="2800" noProof="1"/>
          </a:p>
        </p:txBody>
      </p:sp>
      <p:sp>
        <p:nvSpPr>
          <p:cNvPr id="4" name="m1"/>
          <p:cNvSpPr/>
          <p:nvPr/>
        </p:nvSpPr>
        <p:spPr>
          <a:xfrm>
            <a:off x="609600" y="1397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5" name="m1t"/>
          <p:cNvSpPr txBox="1"/>
          <p:nvPr/>
        </p:nvSpPr>
        <p:spPr>
          <a:xfrm>
            <a:off x="812800" y="1625600"/>
            <a:ext cx="3022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 b="1">
                <a:solidFill>
                  <a:srgbClr val="002FA7"/>
                </a:solidFill>
                <a:latin typeface="MiSans"/>
                <a:ea typeface="MiSans"/>
              </a:rPr>
              <a:t>掌握度提升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诊断前 45% → 巩固后 78%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600" noProof="1" b="1">
                <a:solidFill>
                  <a:srgbClr val="4CAF50"/>
                </a:solidFill>
                <a:latin typeface="MiSans"/>
                <a:ea typeface="MiSans"/>
              </a:rPr>
              <a:t>↑ 提升 33%</a:t>
            </a:r>
            <a:endParaRPr lang="en-US" sz="1600" noProof="1"/>
          </a:p>
        </p:txBody>
      </p:sp>
      <p:sp>
        <p:nvSpPr>
          <p:cNvPr id="6" name="m2"/>
          <p:cNvSpPr/>
          <p:nvPr/>
        </p:nvSpPr>
        <p:spPr>
          <a:xfrm>
            <a:off x="4381500" y="1397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7" name="m2t"/>
          <p:cNvSpPr txBox="1"/>
          <p:nvPr/>
        </p:nvSpPr>
        <p:spPr>
          <a:xfrm>
            <a:off x="4584700" y="1625600"/>
            <a:ext cx="3022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 b="1">
                <a:solidFill>
                  <a:srgbClr val="002FA7"/>
                </a:solidFill>
                <a:latin typeface="MiSans"/>
                <a:ea typeface="MiSans"/>
              </a:rPr>
              <a:t>批改时间节省 70%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传统 90 分钟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ILearn 15 分钟</a:t>
            </a:r>
            <a:endParaRPr lang="en-US" sz="1600" noProof="1"/>
          </a:p>
        </p:txBody>
      </p:sp>
      <p:sp>
        <p:nvSpPr>
          <p:cNvPr id="8" name="m3"/>
          <p:cNvSpPr/>
          <p:nvPr/>
        </p:nvSpPr>
        <p:spPr>
          <a:xfrm>
            <a:off x="8153400" y="1397000"/>
            <a:ext cx="3429000" cy="1905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9" name="m3t"/>
          <p:cNvSpPr txBox="1"/>
          <p:nvPr/>
        </p:nvSpPr>
        <p:spPr>
          <a:xfrm>
            <a:off x="8356600" y="1625600"/>
            <a:ext cx="3022600" cy="152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600" noProof="1" b="1">
                <a:solidFill>
                  <a:srgbClr val="002FA7"/>
                </a:solidFill>
                <a:latin typeface="MiSans"/>
                <a:ea typeface="MiSans"/>
              </a:rPr>
              <a:t>诊断置信度 85%+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基于证据日志</a:t>
            </a:r>
            <a:endParaRPr lang="en-US" sz="16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结论可追溯审计</a:t>
            </a:r>
            <a:endParaRPr lang="en-US" sz="1600" noProof="1"/>
          </a:p>
        </p:txBody>
      </p:sp>
      <p:graphicFrame>
        <p:nvGraphicFramePr>
          <p:cNvPr id="10" name="cmp"/>
          <p:cNvGraphicFramePr>
            <a:graphicFrameLocks noGrp="1"/>
          </p:cNvGraphicFramePr>
          <p:nvPr/>
        </p:nvGraphicFramePr>
        <p:xfrm>
          <a:off x="609600" y="3683000"/>
          <a:ext cx="10972800" cy="2540000"/>
        </p:xfrm>
        <a:graphic>
          <a:graphicData uri="http://schemas.openxmlformats.org/drawingml/2006/table">
            <a:tbl>
              <a:tblPr/>
              <a:tblGrid>
                <a:gridCol w="3072384"/>
                <a:gridCol w="3950208"/>
                <a:gridCol w="3950208"/>
              </a:tblGrid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对比维度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传统教学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002FA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 b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ILearn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002FA7"/>
                    </a:solidFill>
                  </a:tcPr>
                </a:tc>
              </a:tr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批改耗时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90 分钟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15 分钟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个性化程度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统一作业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自适应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</a:tr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反馈周期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1–2 天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即时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08000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薄弱点识别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经验判断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400" noProof="1">
                          <a:solidFill>
                            <a:srgbClr val="1A2332"/>
                          </a:solidFill>
                          <a:latin typeface="MiSans"/>
                          <a:ea typeface="MiSans"/>
                        </a:rPr>
                        <a:t>数据驱动</a:t>
                      </a:r>
                    </a:p>
                  </a:txBody>
                  <a:tcPr marL="91440" marR="91440" marT="45720" marB="45720" anchor="ctr">
                    <a:lnL w="12700">
                      <a:solidFill>
                        <a:srgbClr val="C9CCD2"/>
                      </a:solidFill>
                    </a:lnL>
                    <a:lnR w="12700">
                      <a:solidFill>
                        <a:srgbClr val="C9CCD2"/>
                      </a:solidFill>
                    </a:lnR>
                    <a:lnT w="12700">
                      <a:solidFill>
                        <a:srgbClr val="C9CCD2"/>
                      </a:solidFill>
                    </a:lnT>
                    <a:lnB w="12700">
                      <a:solidFill>
                        <a:srgbClr val="C9CCD2"/>
                      </a:solidFill>
                    </a:lnB>
                    <a:solidFill>
                      <a:srgbClr val="EEF1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fast" advClick="1">
    <p:fade/>
  </p:transition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EEF1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-bar"/>
          <p:cNvSpPr/>
          <p:nvPr/>
        </p:nvSpPr>
        <p:spPr>
          <a:xfrm>
            <a:off x="609600" y="406400"/>
            <a:ext cx="711200" cy="50800"/>
          </a:xfrm>
          <a:prstGeom prst="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3" name="page-title"/>
          <p:cNvSpPr txBox="1"/>
          <p:nvPr/>
        </p:nvSpPr>
        <p:spPr>
          <a:xfrm>
            <a:off x="609600" y="609600"/>
            <a:ext cx="10922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800" noProof="1" b="1">
                <a:solidFill>
                  <a:srgbClr val="002FA7"/>
                </a:solidFill>
                <a:latin typeface="MiSans"/>
                <a:ea typeface="MiSans"/>
              </a:rPr>
              <a:t>技术实现 · 合规 · 开源</a:t>
            </a:r>
            <a:endParaRPr lang="en-US" sz="2800" noProof="1"/>
          </a:p>
        </p:txBody>
      </p:sp>
      <p:sp>
        <p:nvSpPr>
          <p:cNvPr id="4" name="left"/>
          <p:cNvSpPr/>
          <p:nvPr/>
        </p:nvSpPr>
        <p:spPr>
          <a:xfrm>
            <a:off x="609600" y="1270000"/>
            <a:ext cx="54610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5" name="left-t"/>
          <p:cNvSpPr txBox="1"/>
          <p:nvPr/>
        </p:nvSpPr>
        <p:spPr>
          <a:xfrm>
            <a:off x="863600" y="1498600"/>
            <a:ext cx="4953000" cy="2349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600" noProof="1" b="1">
                <a:solidFill>
                  <a:srgbClr val="002FA7"/>
                </a:solidFill>
                <a:latin typeface="MiSans"/>
                <a:ea typeface="MiSans"/>
              </a:rPr>
              <a:t>技术栈与质量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FastAPI + React · Pydantic + Vite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Qdrant + WeasyPrint / fpdf2</a:t>
            </a:r>
            <a:endParaRPr lang="en-US" sz="1600" noProof="1"/>
          </a:p>
          <a:p>
            <a:pPr>
              <a:lnSpc>
                <a:spcPct val="145000"/>
              </a:lnSpc>
              <a:spcBef>
                <a:spcPts val="1200"/>
              </a:spcBef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554+ 后端测试 · 73+ 前端测试</a:t>
            </a:r>
            <a:endParaRPr lang="en-US" sz="1600" noProof="1"/>
          </a:p>
          <a:p>
            <a:pPr>
              <a:lnSpc>
                <a:spcPct val="145000"/>
              </a:lnSpc>
            </a:pPr>
            <a:r>
              <a:rPr lang="en-US" sz="1600" noProof="1">
                <a:solidFill>
                  <a:srgbClr val="1A2332"/>
                </a:solidFill>
                <a:latin typeface="MiSans"/>
                <a:ea typeface="MiSans"/>
              </a:rPr>
              <a:t>零 LLM 可离线运行</a:t>
            </a:r>
            <a:endParaRPr lang="en-US" sz="1600" noProof="1"/>
          </a:p>
        </p:txBody>
      </p:sp>
      <p:sp>
        <p:nvSpPr>
          <p:cNvPr id="6" name="right"/>
          <p:cNvSpPr/>
          <p:nvPr/>
        </p:nvSpPr>
        <p:spPr>
          <a:xfrm>
            <a:off x="6350000" y="1270000"/>
            <a:ext cx="5232400" cy="279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9CCD2"/>
            </a:solidFill>
          </a:ln>
        </p:spPr>
      </p:sp>
      <p:sp>
        <p:nvSpPr>
          <p:cNvPr id="7" name="right-t"/>
          <p:cNvSpPr txBox="1"/>
          <p:nvPr/>
        </p:nvSpPr>
        <p:spPr>
          <a:xfrm>
            <a:off x="6604000" y="1498600"/>
            <a:ext cx="4724400" cy="23495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0000"/>
              </a:lnSpc>
            </a:pPr>
            <a:r>
              <a:rPr lang="en-US" sz="1500" noProof="1" b="1">
                <a:solidFill>
                  <a:srgbClr val="002FA7"/>
                </a:solidFill>
                <a:latin typeface="MiSans"/>
                <a:ea typeface="MiSans"/>
              </a:rPr>
              <a:t>数据与合规</a:t>
            </a:r>
            <a:endParaRPr lang="en-US" sz="1500" noProof="1"/>
          </a:p>
          <a:p>
            <a:pPr>
              <a:lnSpc>
                <a:spcPct val="140000"/>
              </a:lnSpc>
              <a:spcBef>
                <a:spcPts val="800"/>
              </a:spcBef>
            </a:pPr>
            <a:r>
              <a:rPr lang="en-US" sz="1500" noProof="1">
                <a:solidFill>
                  <a:srgbClr val="1A2332"/>
                </a:solidFill>
                <a:latin typeface="MiSans"/>
                <a:ea typeface="MiSans"/>
              </a:rPr>
              <a:t>小学数学 4–6 年级 · 人教课标</a:t>
            </a:r>
            <a:endParaRPr lang="en-US" sz="1500" noProof="1"/>
          </a:p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1A2332"/>
                </a:solidFill>
                <a:latin typeface="MiSans"/>
                <a:ea typeface="MiSans"/>
              </a:rPr>
              <a:t>公开题库 + 模拟画像（化名）</a:t>
            </a:r>
            <a:endParaRPr lang="en-US" sz="1500" noProof="1"/>
          </a:p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1A2332"/>
                </a:solidFill>
                <a:latin typeface="MiSans"/>
                <a:ea typeface="MiSans"/>
              </a:rPr>
              <a:t>无真实个人信息持久化</a:t>
            </a:r>
            <a:endParaRPr lang="en-US" sz="1500" noProof="1"/>
          </a:p>
          <a:p>
            <a:pPr>
              <a:lnSpc>
                <a:spcPct val="140000"/>
              </a:lnSpc>
            </a:pPr>
            <a:r>
              <a:rPr lang="en-US" sz="1500" noProof="1">
                <a:solidFill>
                  <a:srgbClr val="1A2332"/>
                </a:solidFill>
                <a:latin typeface="MiSans"/>
                <a:ea typeface="MiSans"/>
              </a:rPr>
              <a:t>AI 诊断仅供参考，需教师确认</a:t>
            </a:r>
            <a:endParaRPr lang="en-US" sz="1500" noProof="1"/>
          </a:p>
          <a:p>
            <a:pPr>
              <a:lnSpc>
                <a:spcPct val="140000"/>
              </a:lnSpc>
              <a:spcBef>
                <a:spcPts val="600"/>
              </a:spcBef>
            </a:pPr>
            <a:r>
              <a:rPr lang="en-US" sz="1500" noProof="1">
                <a:solidFill>
                  <a:srgbClr val="5F6B7A"/>
                </a:solidFill>
                <a:latin typeface="MiSans"/>
                <a:ea typeface="MiSans"/>
              </a:rPr>
              <a:t>符合数据安全法 / 个保法要求</a:t>
            </a:r>
            <a:endParaRPr lang="en-US" sz="1500" noProof="1"/>
          </a:p>
        </p:txBody>
      </p:sp>
      <p:sp>
        <p:nvSpPr>
          <p:cNvPr id="8" name="cta-bg"/>
          <p:cNvSpPr/>
          <p:nvPr/>
        </p:nvSpPr>
        <p:spPr>
          <a:xfrm>
            <a:off x="609600" y="4445000"/>
            <a:ext cx="10972800" cy="1778000"/>
          </a:xfrm>
          <a:prstGeom prst="roundRect">
            <a:avLst/>
          </a:prstGeom>
          <a:solidFill>
            <a:srgbClr val="002FA7"/>
          </a:solidFill>
          <a:ln>
            <a:noFill/>
          </a:ln>
        </p:spPr>
      </p:sp>
      <p:sp>
        <p:nvSpPr>
          <p:cNvPr id="9" name="cta"/>
          <p:cNvSpPr txBox="1"/>
          <p:nvPr/>
        </p:nvSpPr>
        <p:spPr>
          <a:xfrm>
            <a:off x="863600" y="4673600"/>
            <a:ext cx="104648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700" noProof="1" b="1">
                <a:solidFill>
                  <a:srgbClr val="FFFFFF"/>
                </a:solidFill>
                <a:latin typeface="MiSans"/>
                <a:ea typeface="MiSans"/>
              </a:rPr>
              <a:t>ILearn —— 让每个孩子拥有课标对齐、数据驱动、持续进化的 AI 学习伙伴</a:t>
            </a:r>
            <a:endParaRPr lang="en-US" sz="1700" noProof="1"/>
          </a:p>
          <a:p>
            <a:pPr>
              <a:lnSpc>
                <a:spcPct val="145000"/>
              </a:lnSpc>
              <a:spcBef>
                <a:spcPts val="1000"/>
              </a:spcBef>
            </a:pPr>
            <a:r>
              <a:rPr lang="en-US" sz="1700" noProof="1">
                <a:solidFill>
                  <a:srgbClr val="FFFFFF"/>
                </a:solidFill>
                <a:latin typeface="MiSans"/>
                <a:ea typeface="MiSans"/>
              </a:rPr>
              <a:t>开源地址：https://github.com/QinHsiu/ILearn　·　60 秒上手</a:t>
            </a:r>
            <a:endParaRPr lang="en-US" sz="1700" noProof="1"/>
          </a:p>
          <a:p>
            <a:pPr>
              <a:lnSpc>
                <a:spcPct val="145000"/>
              </a:lnSpc>
              <a:spcBef>
                <a:spcPts val="800"/>
              </a:spcBef>
            </a:pPr>
            <a:r>
              <a:rPr lang="en-US" sz="1700" noProof="1">
                <a:solidFill>
                  <a:srgbClr val="FFFFFF"/>
                </a:solidFill>
                <a:latin typeface="MiSans"/>
                <a:ea typeface="MiSans"/>
              </a:rPr>
              <a:t>感谢评委，欢迎提问！</a:t>
            </a:r>
            <a:endParaRPr lang="en-US" sz="1700" noProof="1"/>
          </a:p>
        </p:txBody>
      </p:sp>
    </p:spTree>
  </p:cSld>
  <p:clrMapOvr>
    <a:masterClrMapping/>
  </p:clrMapOvr>
  <p:transition spd="fast" advClick="1">
    <p:fade/>
  </p:transition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8</Slides>
</Properties>
</file>

<file path=docProps/core.xml><?xml version="1.0" encoding="utf-8"?>
<cp:coreProperties xmlns:dc="http://purl.org/dc/elements/1.1/" xmlns:cp="http://schemas.openxmlformats.org/package/2006/metadata/core-properties"/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